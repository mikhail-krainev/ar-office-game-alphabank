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Штраф</c:v>
                </c:pt>
              </c:strCache>
            </c:strRef>
          </c:tx>
          <c:spPr>
            <a:solidFill>
              <a:srgbClr val="EF3124"/>
            </a:solidFill>
          </c:spPr>
          <c:cat>
            <c:strRef>
              <c:f>Sheet1!$A$2:$A$6</c:f>
              <c:strCache>
                <c:ptCount val="5"/>
                <c:pt idx="0">
                  <c:v>1 день</c:v>
                </c:pt>
                <c:pt idx="1">
                  <c:v>2 дня</c:v>
                </c:pt>
                <c:pt idx="2">
                  <c:v>3–4</c:v>
                </c:pt>
                <c:pt idx="3">
                  <c:v>5–9</c:v>
                </c:pt>
                <c:pt idx="4">
                  <c:v>10+</c:v>
                </c:pt>
              </c:strCache>
            </c:strRef>
          </c:cat>
          <c:val>
            <c:numRef>
              <c:f>Sheet1!$B$2:$B$6</c:f>
              <c:numCache>
                <c:formatCode>0"%"</c:formatCode>
                <c:ptCount val="5"/>
                <c:pt idx="0">
                  <c:v>0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1212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8DB"/>
            </a:solidFill>
          </a:ln>
        </c:spPr>
        <c:txPr>
          <a:bodyPr/>
          <a:lstStyle/>
          <a:p>
            <a:pPr>
              <a:defRPr sz="1200">
                <a:solidFill>
                  <a:srgbClr val="6D707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D7074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Альфа Офис — браузерная игра для телефона. Её цель простая: дать сотруднику причину приехать в офис. Все задания выполняются физически в офисе, а играть можно только из корпоративного Wi-Fi.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из трёх шагов. Важно, что каждое действие подтверждает сервер: клиент сам ничего не начисляет.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Утро и дорога — катсцены в стиле комикса. Квартира и офис — карта в виде 3/4 сверху. После отметки на ресепшне визит уже засчитан, дальше задания только добавляют коины.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Задания физические, поэтому их нельзя сделать на диване. Набор на день у каждого свой: два рабочих дня подряд делят все задания пополам.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AR-слой рисуется в Godot поверх видео с камеры. Лица только считаются, никого не опознают, снимки не сохраняются.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Социальная часть — главный аргумент приехать: встречи засчитываются только вживую, по QR-коду с телефона коллеги, который меняется каждые 10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фактора проверяются на сервере. Если сотрудник открыл игру в Wi-Fi офиса, но забыл код, серия сохраняется, а игра напоминает отсканировать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Экономика целиком на сервере, в кошельке Nakama. Все RPC, меняющие баланс, идемпотентны.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Купленный мерч открывает такие же вещи в гардеробе. Рулетка в день итогов — только анимация, результат уже посчитан сервером.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Игра мотивирует приходить, но не отнимает рабочее время. Развлекательные уведомления — только вне рабочего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Админка — отдельное веб-приложение на React. Панели администратора и руководителя используют разные 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Сервер — единственный источник истины. Офлайн-режима нет: игра всегда работает через сеть.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Спасибо. Готовы показать игру на телефоне.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3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548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Студенческий концепт-проект для Альфа-Банка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41732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Arial"/>
              </a:rPr>
              <a:t>Альфа
Офис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443484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Браузерная игра для телефона, ради которой хочется приехать в офис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053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УрФУ, 2026</a:t>
            </a:r>
          </a:p>
        </p:txBody>
      </p:sp>
      <p:pic>
        <p:nvPicPr>
          <p:cNvPr id="6" name="phone-06-office" descr="phone-06-office.png"/>
          <p:cNvPicPr>
            <a:picLocks noChangeAspect="1"/>
          </p:cNvPicPr>
          <p:nvPr/>
        </p:nvPicPr>
        <p:blipFill>
          <a:blip r:embed="rId2"/>
          <a:srcRect b="10833"/>
          <a:stretch>
            <a:fillRect/>
          </a:stretch>
        </p:blipFill>
        <p:spPr>
          <a:xfrm>
            <a:off x="5192342" y="925127"/>
            <a:ext cx="3498673" cy="5932872"/>
          </a:xfrm>
          <a:prstGeom prst="rect">
            <a:avLst/>
          </a:prstGeom>
        </p:spPr>
      </p:pic>
      <p:pic>
        <p:nvPicPr>
          <p:cNvPr id="7" name="phone-51-ar-selfie-crown" descr="phone-51-ar-selfie-crown.png"/>
          <p:cNvPicPr>
            <a:picLocks noChangeAspect="1"/>
          </p:cNvPicPr>
          <p:nvPr/>
        </p:nvPicPr>
        <p:blipFill>
          <a:blip r:embed="rId3"/>
          <a:srcRect b="20453"/>
          <a:stretch>
            <a:fillRect/>
          </a:stretch>
        </p:blipFill>
        <p:spPr>
          <a:xfrm>
            <a:off x="8392429" y="1565207"/>
            <a:ext cx="3498673" cy="5292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Игра, в которую нельзя
играть из дома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965960"/>
            <a:ext cx="70408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121214"/>
                </a:solidFill>
                <a:latin typeface="Arial"/>
              </a:rPr>
              <a:t>Каждый рабочий день сотрудник получает свой набор заданий. Выполнить их можно только в офисе: нужны камера, шагомер, микрофон и QR-коды на дверях комнат. За задания начисляются альфа-коины.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3520440"/>
            <a:ext cx="74066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09904" y="3666744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Прийти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104" y="3666744"/>
            <a:ext cx="58064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Отметиться на ресепшне. QR-код на экране меняется каждые 30 секунд, скриншот не сработает.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" y="4389120"/>
            <a:ext cx="74066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09904" y="4535424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Сыграть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0104" y="4535424"/>
            <a:ext cx="58064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Пройти мини-игры в комнатах офиса: 10 приседаний, 120 шагов по лестнице, фото с коллегой.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" y="5257800"/>
            <a:ext cx="74066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09904" y="5404104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Обменять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0104" y="5404104"/>
            <a:ext cx="58064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Потратить коины: мерч, промокоды на такси и кофе, парковка у входа, выходной день.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" y="6126480"/>
            <a:ext cx="74066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pic>
        <p:nvPicPr>
          <p:cNvPr id="15" name="phone-08-tasks" descr="phone-08-task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03180" y="782082"/>
            <a:ext cx="3048086" cy="57967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Один игровой день повторяет рабочий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03</a:t>
            </a:r>
          </a:p>
        </p:txBody>
      </p:sp>
      <p:pic>
        <p:nvPicPr>
          <p:cNvPr id="4" name="phone-01-morning" descr="phone-01-morn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393" y="1390688"/>
            <a:ext cx="2369803" cy="4506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5870873"/>
            <a:ext cx="19507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Утро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Будильник, серия дней и множитель наград</a:t>
            </a:r>
          </a:p>
        </p:txBody>
      </p:sp>
      <p:pic>
        <p:nvPicPr>
          <p:cNvPr id="6" name="phone-02-home" descr="phone-02-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55669" y="1390688"/>
            <a:ext cx="2369803" cy="4506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65180" y="5870873"/>
            <a:ext cx="19507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Квартира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Гардероб, гараж с машинами, выход</a:t>
            </a:r>
          </a:p>
        </p:txBody>
      </p:sp>
      <p:pic>
        <p:nvPicPr>
          <p:cNvPr id="8" name="phone-05-commute" descr="phone-05-commut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10946" y="1390688"/>
            <a:ext cx="2369803" cy="4506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457" y="5870873"/>
            <a:ext cx="19507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Дорога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Катсцена зависит от выбранной машины</a:t>
            </a:r>
          </a:p>
        </p:txBody>
      </p:sp>
      <p:pic>
        <p:nvPicPr>
          <p:cNvPr id="10" name="phone-06-office" descr="phone-06-offic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66222" y="1390688"/>
            <a:ext cx="2369803" cy="4506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3" y="5870873"/>
            <a:ext cx="19507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Офис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Задания, коллеги, магазин наград</a:t>
            </a:r>
          </a:p>
        </p:txBody>
      </p:sp>
      <p:pic>
        <p:nvPicPr>
          <p:cNvPr id="12" name="phone-12-evening" descr="phone-12-evening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421498" y="1390688"/>
            <a:ext cx="2369803" cy="4506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31009" y="5870873"/>
            <a:ext cx="19507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Вечер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«Поехать домой» закрывает визит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Мини-игры работают на датчиках телефона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6002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8744" y="16002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Что делает игрок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624" y="16002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Датчик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3624" y="1600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Коины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" y="1911095"/>
            <a:ext cx="7635240" cy="0"/>
          </a:xfrm>
          <a:prstGeom prst="line">
            <a:avLst/>
          </a:prstGeom>
          <a:ln w="12700">
            <a:solidFill>
              <a:srgbClr val="121214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09904" y="1911095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Отметка на ресепшне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744" y="1911095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Сканирует QR-код на экране у входа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624" y="1911095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камера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3624" y="1911095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" y="2313432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09904" y="2313432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Лестница, не лифт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8744" y="2313432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Проходит 120 шагов по офису за пять минут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624" y="2313432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шагомер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3624" y="2313432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25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" y="2715768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09904" y="2715768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Найди предмет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744" y="271576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Показывает камере три офисные вещи из 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624" y="2715768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объекты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3624" y="2715768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25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" y="3118103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09904" y="3118104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Утренняя зарядка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8744" y="3118104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Делает 10 приседаний перед камерой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624" y="3118104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поза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3624" y="3118104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30 ×2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904" y="3520440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09904" y="3520439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Скороговорка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58744" y="3520439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Произносит две скороговорки вслух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624" y="3520439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речь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3624" y="3520439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20 ×3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904" y="3922776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09904" y="3922776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Фото с коллегой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8744" y="3922776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Двое в кадре, коллега подтверждает у себя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624" y="3922776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лица, 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3624" y="3922776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30 ×2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904" y="4325112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09904" y="4325112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Охота на баги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8744" y="4325112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Ловит баги, поворачиваясь с телефоном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0624" y="4325112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гироскоп, 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3624" y="4325112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20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904" y="4727448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09904" y="4727448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Настроение дня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8744" y="472744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Рисует настроение и примеряет его на лоб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624" y="4727448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лица, 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3624" y="4727448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15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09904" y="5129784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09904" y="5129783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Три правды, две лжи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58744" y="5129783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Коллега угадывает факты о нём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0624" y="5129783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QR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3624" y="5129783"/>
            <a:ext cx="7315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35 ×2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09904" y="5532120"/>
            <a:ext cx="76352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609904" y="5733288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×2 и ×3 — множитель сложности, такое задание можно пропустить. Если датчика нет или игрок не дал разрешение, запускается упрощённая экранная версия.</a:t>
            </a:r>
          </a:p>
        </p:txBody>
      </p:sp>
      <p:pic>
        <p:nvPicPr>
          <p:cNvPr id="55" name="phone-17-find-object" descr="phone-17-find-objec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93122" y="1358842"/>
            <a:ext cx="2730025" cy="5191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Камера показывает офис,
игра дорисовывает остальное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9A9CA1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965960"/>
            <a:ext cx="324612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Поверх живой камеры появляются неоновые объекты: очки и корона на лицах, скелет при приседаниях, баги вокруг игрока.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Распознавание работает прямо в браузере на MediaPipe. Кадры не покидают телефон.</a:t>
            </a:r>
          </a:p>
        </p:txBody>
      </p:sp>
      <p:pic>
        <p:nvPicPr>
          <p:cNvPr id="5" name="phone-47-bug-hunt" descr="phone-47-bug-hu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77691" y="1769124"/>
            <a:ext cx="2226428" cy="42341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74527" y="5989320"/>
            <a:ext cx="1832757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Охота на баги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9A9CA1"/>
                </a:solidFill>
                <a:latin typeface="Arial"/>
              </a:rPr>
              <a:t>Баги висят вокруг игрока</a:t>
            </a:r>
          </a:p>
        </p:txBody>
      </p:sp>
      <p:pic>
        <p:nvPicPr>
          <p:cNvPr id="7" name="phone-51-ar-selfie-crown" descr="phone-51-ar-selfie-crow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944" y="1769124"/>
            <a:ext cx="2226428" cy="4234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1780" y="5989320"/>
            <a:ext cx="1832757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Фото с коллегой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9A9CA1"/>
                </a:solidFill>
                <a:latin typeface="Arial"/>
              </a:rPr>
              <a:t>Улыбка даёт корону</a:t>
            </a:r>
          </a:p>
        </p:txBody>
      </p:sp>
      <p:pic>
        <p:nvPicPr>
          <p:cNvPr id="9" name="phone-52-ar-squats" descr="phone-52-ar-squat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52197" y="1769124"/>
            <a:ext cx="2226428" cy="42341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49032" y="5989320"/>
            <a:ext cx="1832757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Утренняя зарядка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9A9CA1"/>
                </a:solidFill>
                <a:latin typeface="Arial"/>
              </a:rPr>
              <a:t>Скелет и счёт приседаний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По офису ходят коллеги,
которые сегодня пришли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06</a:t>
            </a:r>
          </a:p>
        </p:txBody>
      </p:sp>
      <p:pic>
        <p:nvPicPr>
          <p:cNvPr id="4" name="phone-44-office-colleagues" descr="phone-44-office-colleague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7293" y="1743348"/>
            <a:ext cx="2517984" cy="4788623"/>
          </a:xfrm>
          <a:prstGeom prst="rect">
            <a:avLst/>
          </a:prstGeom>
        </p:spPr>
      </p:pic>
      <p:pic>
        <p:nvPicPr>
          <p:cNvPr id="5" name="phone-45-colleague-profile" descr="phone-45-colleague-profi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64549" y="1743348"/>
            <a:ext cx="2517984" cy="4788623"/>
          </a:xfrm>
          <a:prstGeom prst="rect">
            <a:avLst/>
          </a:prstGeom>
        </p:spPr>
      </p:pic>
      <p:pic>
        <p:nvPicPr>
          <p:cNvPr id="6" name="phone-46-colleague-story" descr="phone-46-colleague-story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41806" y="1743348"/>
            <a:ext cx="2517984" cy="47886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85819" y="1965960"/>
            <a:ext cx="359597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Каждый персонаж одет в образ, который его владелец собрал в гардеробе. Розовое кольцо у аватарки — есть история «Настроение дня».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Нажатие на коллегу открывает его карточку: департамент, статус, серия дней в офисе.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Напарника для фото, «Кофе вслепую» и «Бинго знакомств» сервер выбирает только среди тех, кто сегодня отметился в этом же офисе.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Присутствие проверяет сервер,
а не честное слово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892807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400" b="1">
                <a:solidFill>
                  <a:srgbClr val="EF3124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704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>
                <a:solidFill>
                  <a:srgbClr val="121214"/>
                </a:solidFill>
                <a:latin typeface="Arial"/>
              </a:rPr>
              <a:t>Ротируемый QR у ресепшна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704" y="240487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Код подписан секретом, который есть только у сервера. Живёт 30 секунд и не принимается повторно. Между кодами «Вход» и «Выход» игрок считается в офисе.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721608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400" b="1">
                <a:solidFill>
                  <a:srgbClr val="EF3124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704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>
                <a:solidFill>
                  <a:srgbClr val="121214"/>
                </a:solidFill>
                <a:latin typeface="Arial"/>
              </a:rPr>
              <a:t>Wi-Fi офиса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704" y="423367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Сервер сверяет внешний IP запроса с сетями офисов. Из дома и мобильного интернета любой игровой запрос получает отказ.</a:t>
            </a:r>
          </a:p>
        </p:txBody>
      </p:sp>
      <p:pic>
        <p:nvPicPr>
          <p:cNvPr id="10" name="phone-14-qr-scanner" descr="phone-14-qr-scann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03873" y="1764437"/>
            <a:ext cx="2279438" cy="4334964"/>
          </a:xfrm>
          <a:prstGeom prst="rect">
            <a:avLst/>
          </a:prstGeom>
        </p:spPr>
      </p:pic>
      <p:sp>
        <p:nvSpPr>
          <p:cNvPr id="11" name="reception-screen"/>
          <p:cNvSpPr/>
          <p:nvPr/>
        </p:nvSpPr>
        <p:spPr>
          <a:xfrm>
            <a:off x="7371801" y="1965960"/>
            <a:ext cx="1876394" cy="3931920"/>
          </a:xfrm>
          <a:prstGeom prst="roundRect">
            <a:avLst>
              <a:gd name="adj" fmla="val 4873"/>
            </a:avLst>
          </a:prstGeom>
          <a:solidFill>
            <a:srgbClr val="050506"/>
          </a:solidFill>
          <a:ln w="12700">
            <a:solidFill>
              <a:srgbClr val="3A3A3E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reception-screen-content" descr="reception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241" y="2365526"/>
            <a:ext cx="1693514" cy="31327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1801" y="6080759"/>
            <a:ext cx="187639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Экран у ресепшна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Коды входа и выхода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5395" y="6080759"/>
            <a:ext cx="187639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21214"/>
                </a:solidFill>
                <a:latin typeface="Arial"/>
              </a:rPr>
              <a:t>Телефон сотрудника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Сканер QR в игре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Коины начисляет только сервер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600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121214"/>
                </a:solidFill>
                <a:latin typeface="Arial"/>
              </a:rPr>
              <a:t>награда = база × сложность × серия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1945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база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10–40 коинов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704" y="21945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сложность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×1, ×2 или ×3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504" y="21945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серия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21214"/>
                </a:solidFill>
                <a:latin typeface="Arial"/>
              </a:rPr>
              <a:t>от ×1,0 до ×2,0, +0,1 за день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" y="3246120"/>
            <a:ext cx="539496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09904" y="3392424"/>
            <a:ext cx="96012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>
                <a:solidFill>
                  <a:srgbClr val="121214"/>
                </a:solidFill>
                <a:latin typeface="Arial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904" y="3392424"/>
            <a:ext cx="425196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приветственный бонус при первом входе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" y="3959352"/>
            <a:ext cx="539496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09904" y="4105656"/>
            <a:ext cx="96012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>
                <a:solidFill>
                  <a:srgbClr val="121214"/>
                </a:solidFill>
                <a:latin typeface="Arial"/>
              </a:rPr>
              <a:t>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904" y="4105656"/>
            <a:ext cx="425196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лимит начислений в день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" y="4672584"/>
            <a:ext cx="539496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09904" y="4818888"/>
            <a:ext cx="96012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>
                <a:solidFill>
                  <a:srgbClr val="121214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904" y="4818888"/>
            <a:ext cx="425196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коинов клиент может начислить сам: каждое изменение баланса проверяет сервер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" y="5385816"/>
            <a:ext cx="539496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720840" y="1600200"/>
            <a:ext cx="486095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900" b="1">
                <a:solidFill>
                  <a:srgbClr val="121214"/>
                </a:solidFill>
                <a:latin typeface="Arial"/>
              </a:rPr>
              <a:t>Пропуски офиса стоят коинов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011680"/>
            <a:ext cx="486095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Процент от баланса за каждый рабочий день без офиса. Первый пропуск сжигает только серию; отпуск и больничный не считаются.</a:t>
            </a:r>
          </a:p>
        </p:txBody>
      </p:sp>
      <p:graphicFrame>
        <p:nvGraphicFramePr>
          <p:cNvPr id="20" name="penalty-chart"/>
          <p:cNvGraphicFramePr>
            <a:graphicFrameLocks noGrp="1"/>
          </p:cNvGraphicFramePr>
          <p:nvPr/>
        </p:nvGraphicFramePr>
        <p:xfrm>
          <a:off x="6720840" y="3017520"/>
          <a:ext cx="486095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Коины меняются на то,
что ценят в офисе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965960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21214"/>
                </a:solidFill>
                <a:latin typeface="Arial"/>
              </a:rPr>
              <a:t>Магазин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21214"/>
                </a:solidFill>
                <a:latin typeface="Arial"/>
              </a:rPr>
              <a:t>Шесть случайных предметов в день, от стикеров до выходного. Дорогие награды подтверждает человек.</a:t>
            </a:r>
          </a:p>
        </p:txBody>
      </p:sp>
      <p:pic>
        <p:nvPicPr>
          <p:cNvPr id="5" name="phone-10-shop" descr="phone-10-shop.png"/>
          <p:cNvPicPr>
            <a:picLocks noChangeAspect="1"/>
          </p:cNvPicPr>
          <p:nvPr/>
        </p:nvPicPr>
        <p:blipFill>
          <a:blip r:embed="rId2"/>
          <a:srcRect b="40174"/>
          <a:stretch>
            <a:fillRect/>
          </a:stretch>
        </p:blipFill>
        <p:spPr>
          <a:xfrm>
            <a:off x="328711" y="3239246"/>
            <a:ext cx="3180612" cy="36187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8698" y="1965960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21214"/>
                </a:solidFill>
                <a:latin typeface="Arial"/>
              </a:rPr>
              <a:t>Розыгрыш парковки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21214"/>
                </a:solidFill>
                <a:latin typeface="Arial"/>
              </a:rPr>
              <a:t>Раз в месяц — место на тёплом паркинге. Билет стоит 1 500 коинов, нужен 8 дней в офисе из 30.</a:t>
            </a:r>
          </a:p>
        </p:txBody>
      </p:sp>
      <p:pic>
        <p:nvPicPr>
          <p:cNvPr id="7" name="phone-26-raffle" descr="phone-26-raffle.png"/>
          <p:cNvPicPr>
            <a:picLocks noChangeAspect="1"/>
          </p:cNvPicPr>
          <p:nvPr/>
        </p:nvPicPr>
        <p:blipFill>
          <a:blip r:embed="rId3"/>
          <a:srcRect b="40174"/>
          <a:stretch>
            <a:fillRect/>
          </a:stretch>
        </p:blipFill>
        <p:spPr>
          <a:xfrm>
            <a:off x="4087504" y="3239246"/>
            <a:ext cx="3180612" cy="36187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7492" y="1965960"/>
            <a:ext cx="317997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21214"/>
                </a:solidFill>
                <a:latin typeface="Arial"/>
              </a:rPr>
              <a:t>Честный итог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21214"/>
                </a:solidFill>
                <a:latin typeface="Arial"/>
              </a:rPr>
              <a:t>Победителя выбирает сервер: хеш зерна публикуется заранее, итог может проверить любой.</a:t>
            </a:r>
          </a:p>
        </p:txBody>
      </p:sp>
      <p:pic>
        <p:nvPicPr>
          <p:cNvPr id="9" name="phone-27-roulette" descr="phone-27-roulette.png"/>
          <p:cNvPicPr>
            <a:picLocks noChangeAspect="1"/>
          </p:cNvPicPr>
          <p:nvPr/>
        </p:nvPicPr>
        <p:blipFill>
          <a:blip r:embed="rId4"/>
          <a:srcRect b="40174"/>
          <a:stretch>
            <a:fillRect/>
          </a:stretch>
        </p:blipFill>
        <p:spPr>
          <a:xfrm>
            <a:off x="7846298" y="3239246"/>
            <a:ext cx="3180612" cy="36187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Работа важнее игры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60020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6D7074"/>
                </a:solidFill>
                <a:latin typeface="Arial"/>
              </a:rPr>
              <a:t>Сервер сам ограничивает, когда и сколько можно играть. Все значения меняет администратор.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2331720"/>
            <a:ext cx="60350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09904" y="247802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Набор заданий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1584" y="2478024"/>
            <a:ext cx="4023359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половина всех заданий в день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" y="2935224"/>
            <a:ext cx="60350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09904" y="308152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Пауза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1584" y="3081528"/>
            <a:ext cx="4023359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30 минут между заданиями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" y="3538728"/>
            <a:ext cx="60350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09904" y="3685032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Часы заданий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1584" y="3685032"/>
            <a:ext cx="4023359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с 08:00 до 20:00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" y="4142232"/>
            <a:ext cx="60350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09904" y="4288536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Без перерыва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1584" y="4288536"/>
            <a:ext cx="4023359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не больше 1 часа подряд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" y="4745736"/>
            <a:ext cx="60350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09904" y="489204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121214"/>
                </a:solidFill>
                <a:latin typeface="Arial"/>
              </a:rPr>
              <a:t>Отдых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1584" y="4892040"/>
            <a:ext cx="4023359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30 минут, иначе игра закрыта до завтра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" y="5349240"/>
            <a:ext cx="6035040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09904" y="557784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После часа игры есть 5 минут, чтобы выйти. Мини-игру лимит не прерывает: отдых начнётся сразу после неё.</a:t>
            </a:r>
          </a:p>
        </p:txBody>
      </p:sp>
      <p:pic>
        <p:nvPicPr>
          <p:cNvPr id="22" name="phone-36-play-rest" descr="phone-36-play-res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68960" y="1356498"/>
            <a:ext cx="2756530" cy="5242282"/>
          </a:xfrm>
          <a:prstGeom prst="rect">
            <a:avLst/>
          </a:prstGeom>
        </p:spPr>
      </p:pic>
      <p:pic>
        <p:nvPicPr>
          <p:cNvPr id="23" name="phone-35-play-warning" descr="phone-35-play-warnin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95337" y="1356498"/>
            <a:ext cx="2756530" cy="52422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Доступ выдаёт
администратор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9659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Регистрации нет. Аккаунт создаёт администратор, у каждого игрока есть офис и департамент.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Руководитель видит статистику своих департаментов и заводит сотрудников.</a:t>
            </a:r>
          </a:p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Офисы и их сети, командировки, лимиты, журнал подозрительных действий.</a:t>
            </a:r>
          </a:p>
        </p:txBody>
      </p:sp>
      <p:pic>
        <p:nvPicPr>
          <p:cNvPr id="5" name="browser-admin-04-stats" descr="browser-admin-04-stats.png"/>
          <p:cNvPicPr>
            <a:picLocks noChangeAspect="1"/>
          </p:cNvPicPr>
          <p:nvPr/>
        </p:nvPicPr>
        <p:blipFill>
          <a:blip r:embed="rId2"/>
          <a:srcRect r="9988" b="6732"/>
          <a:stretch>
            <a:fillRect/>
          </a:stretch>
        </p:blipFill>
        <p:spPr>
          <a:xfrm>
            <a:off x="4615576" y="1689496"/>
            <a:ext cx="7576118" cy="51685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904" y="54864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21214"/>
                </a:solidFill>
                <a:latin typeface="Arial"/>
              </a:rPr>
              <a:t>Как это устроено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10667390" y="6217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00200"/>
            <a:ext cx="2926080" cy="1188720"/>
          </a:xfrm>
          <a:prstGeom prst="roundRect">
            <a:avLst>
              <a:gd name="adj" fmla="val 6153"/>
            </a:avLst>
          </a:prstGeom>
          <a:solidFill>
            <a:srgbClr val="F3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7830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121214"/>
                </a:solidFill>
                <a:latin typeface="Arial"/>
              </a:rPr>
              <a:t>Телефон сотрудника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Safari · Godot 4 · WebGL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611880"/>
            <a:ext cx="2926080" cy="1188720"/>
          </a:xfrm>
          <a:prstGeom prst="roundRect">
            <a:avLst>
              <a:gd name="adj" fmla="val 6153"/>
            </a:avLst>
          </a:prstGeom>
          <a:solidFill>
            <a:srgbClr val="F3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37947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121214"/>
                </a:solidFill>
                <a:latin typeface="Arial"/>
              </a:rPr>
              <a:t>Экран у ресепшна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Ротируемые коды «Вход» и «Выход»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3264" y="160020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EF31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1864" y="1783080"/>
            <a:ext cx="2468880" cy="2834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Nakama + Go-модуль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Задания и проверка присутствия
Кошелёк с леджером
Лимиты рабочего времени
Антифрод и журнал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56624" y="1600200"/>
            <a:ext cx="2926080" cy="1188720"/>
          </a:xfrm>
          <a:prstGeom prst="roundRect">
            <a:avLst>
              <a:gd name="adj" fmla="val 6153"/>
            </a:avLst>
          </a:prstGeom>
          <a:solidFill>
            <a:srgbClr val="F3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5224" y="178308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121214"/>
                </a:solidFill>
                <a:latin typeface="Arial"/>
              </a:rPr>
              <a:t>PostgreSQL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Аккаунты, леджер, хранилище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6624" y="3611880"/>
            <a:ext cx="2926080" cy="1188720"/>
          </a:xfrm>
          <a:prstGeom prst="roundRect">
            <a:avLst>
              <a:gd name="adj" fmla="val 6153"/>
            </a:avLst>
          </a:prstGeom>
          <a:solidFill>
            <a:srgbClr val="F3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5224" y="37947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121214"/>
                </a:solidFill>
                <a:latin typeface="Arial"/>
              </a:rPr>
              <a:t>Админка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6D7074"/>
                </a:solidFill>
                <a:latin typeface="Arial"/>
              </a:rPr>
              <a:t>React · TypeScript · nakama-js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5984" y="2194560"/>
            <a:ext cx="1097280" cy="0"/>
          </a:xfrm>
          <a:prstGeom prst="line">
            <a:avLst/>
          </a:prstGeom>
          <a:ln w="15875">
            <a:solidFill>
              <a:srgbClr val="121214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3627424" y="1920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D7074"/>
                </a:solidFill>
                <a:latin typeface="Arial"/>
              </a:rPr>
              <a:t>WebSocket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35984" y="4206240"/>
            <a:ext cx="1097280" cy="0"/>
          </a:xfrm>
          <a:prstGeom prst="line">
            <a:avLst/>
          </a:prstGeom>
          <a:ln w="15875">
            <a:solidFill>
              <a:srgbClr val="121214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3627424" y="39319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D7074"/>
                </a:solidFill>
                <a:latin typeface="Arial"/>
              </a:rPr>
              <a:t>HTTP-ключ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59344" y="2194560"/>
            <a:ext cx="1097280" cy="0"/>
          </a:xfrm>
          <a:prstGeom prst="line">
            <a:avLst/>
          </a:prstGeom>
          <a:ln w="15875">
            <a:solidFill>
              <a:srgbClr val="121214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7650784" y="1920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D7074"/>
                </a:solidFill>
                <a:latin typeface="Arial"/>
              </a:rPr>
              <a:t>SQL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559344" y="4206240"/>
            <a:ext cx="1097280" cy="0"/>
          </a:xfrm>
          <a:prstGeom prst="line">
            <a:avLst/>
          </a:prstGeom>
          <a:ln w="15875">
            <a:solidFill>
              <a:srgbClr val="121214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7650784" y="39319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D7074"/>
                </a:solidFill>
                <a:latin typeface="Arial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53492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121214"/>
                </a:solidFill>
                <a:latin typeface="Arial"/>
              </a:rPr>
              <a:t>Клиент ничего не начисляет сам: он отправляет действие через RPC, сервер проверяет его и меняет состояние.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" y="6035040"/>
            <a:ext cx="10971886" cy="0"/>
          </a:xfrm>
          <a:prstGeom prst="line">
            <a:avLst/>
          </a:prstGeom>
          <a:ln w="9525">
            <a:solidFill>
              <a:srgbClr val="D6D8D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09904" y="6172200"/>
            <a:ext cx="1097188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6D7074"/>
                </a:solidFill>
                <a:latin typeface="Arial"/>
              </a:rPr>
              <a:t>Тесты: GdUnit4, go test   ·   Линт: gdtoolkit, golangci-lint   ·   CI: GitHub Actions   ·   Запуск: Docker Compose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3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548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Альфа Офис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691640"/>
            <a:ext cx="448056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Игра работает только в Wi-Fi офиса. Поэтому в неё играют в офисе.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6053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Студенческий концепт-проект, УрФУ, 2026</a:t>
            </a:r>
          </a:p>
        </p:txBody>
      </p:sp>
      <p:pic>
        <p:nvPicPr>
          <p:cNvPr id="5" name="phone-44-office-colleagues" descr="phone-44-office-colleagues.png"/>
          <p:cNvPicPr>
            <a:picLocks noChangeAspect="1"/>
          </p:cNvPicPr>
          <p:nvPr/>
        </p:nvPicPr>
        <p:blipFill>
          <a:blip r:embed="rId2"/>
          <a:srcRect b="10833"/>
          <a:stretch>
            <a:fillRect/>
          </a:stretch>
        </p:blipFill>
        <p:spPr>
          <a:xfrm>
            <a:off x="5192342" y="925127"/>
            <a:ext cx="3498673" cy="5932872"/>
          </a:xfrm>
          <a:prstGeom prst="rect">
            <a:avLst/>
          </a:prstGeom>
        </p:spPr>
      </p:pic>
      <p:pic>
        <p:nvPicPr>
          <p:cNvPr id="6" name="phone-11-go-home" descr="phone-11-go-home.png"/>
          <p:cNvPicPr>
            <a:picLocks noChangeAspect="1"/>
          </p:cNvPicPr>
          <p:nvPr/>
        </p:nvPicPr>
        <p:blipFill>
          <a:blip r:embed="rId3"/>
          <a:srcRect b="20453"/>
          <a:stretch>
            <a:fillRect/>
          </a:stretch>
        </p:blipFill>
        <p:spPr>
          <a:xfrm>
            <a:off x="8392429" y="1565207"/>
            <a:ext cx="3498673" cy="5292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Альфа Офис</dc:title>
  <dc:subject/>
  <dc:creator>Альфа Офис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